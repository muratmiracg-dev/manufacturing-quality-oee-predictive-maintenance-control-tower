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b3fc90677b4b14" /><Relationship Type="http://schemas.openxmlformats.org/officeDocument/2006/relationships/extended-properties" Target="/docProps/app.xml" Id="R4bcafab620584389" /><Relationship Type="http://schemas.openxmlformats.org/officeDocument/2006/relationships/officeDocument" Target="/ppt/presentation.xml" Id="Rf290b1e273d64c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acd811756b4dad"/>
  </p:sldMasterIdLst>
  <p:notesMasterIdLst>
    <p:notesMasterId xmlns:r="http://schemas.openxmlformats.org/officeDocument/2006/relationships" r:id="Rbd5bbc8f391d4dec"/>
  </p:notesMasterIdLst>
  <p:sldIdLst>
    <p:sldId xmlns:r="http://schemas.openxmlformats.org/officeDocument/2006/relationships" id="256" r:id="R89e1df8ef3c840b1"/>
    <p:sldId xmlns:r="http://schemas.openxmlformats.org/officeDocument/2006/relationships" id="257" r:id="Rad5940a790674530"/>
    <p:sldId xmlns:r="http://schemas.openxmlformats.org/officeDocument/2006/relationships" id="258" r:id="R61d39e5820ac4c70"/>
    <p:sldId xmlns:r="http://schemas.openxmlformats.org/officeDocument/2006/relationships" id="259" r:id="Rf3dcd95dea024661"/>
    <p:sldId xmlns:r="http://schemas.openxmlformats.org/officeDocument/2006/relationships" id="260" r:id="R59c9e6552c714f18"/>
    <p:sldId xmlns:r="http://schemas.openxmlformats.org/officeDocument/2006/relationships" id="261" r:id="R877c8498f9504dfb"/>
    <p:sldId xmlns:r="http://schemas.openxmlformats.org/officeDocument/2006/relationships" id="262" r:id="Rbc20e6f1e9b14ecb"/>
    <p:sldId xmlns:r="http://schemas.openxmlformats.org/officeDocument/2006/relationships" id="263" r:id="Rba50dcf0c5ab443f"/>
    <p:sldId xmlns:r="http://schemas.openxmlformats.org/officeDocument/2006/relationships" id="264" r:id="R741490c55f50476f"/>
    <p:sldId xmlns:r="http://schemas.openxmlformats.org/officeDocument/2006/relationships" id="265" r:id="R5996ada30a1b4c2a"/>
    <p:sldId xmlns:r="http://schemas.openxmlformats.org/officeDocument/2006/relationships" id="266" r:id="R156684ce28274937"/>
    <p:sldId xmlns:r="http://schemas.openxmlformats.org/officeDocument/2006/relationships" id="267" r:id="Rc274fcfd8f624d5a"/>
    <p:sldId xmlns:r="http://schemas.openxmlformats.org/officeDocument/2006/relationships" id="268" r:id="R7db048c9103742a9"/>
    <p:sldId xmlns:r="http://schemas.openxmlformats.org/officeDocument/2006/relationships" id="269" r:id="Rf456cc680e4741dc"/>
    <p:sldId xmlns:r="http://schemas.openxmlformats.org/officeDocument/2006/relationships" id="270" r:id="R0d84f8eb0ff6488d"/>
    <p:sldId xmlns:r="http://schemas.openxmlformats.org/officeDocument/2006/relationships" id="271" r:id="Rb88a66f95c684320"/>
    <p:sldId xmlns:r="http://schemas.openxmlformats.org/officeDocument/2006/relationships" id="272" r:id="R8e5845a5aae64c79"/>
    <p:sldId xmlns:r="http://schemas.openxmlformats.org/officeDocument/2006/relationships" id="273" r:id="Ra47cf002d49340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2a13f8d1e0449c" /><Relationship Type="http://schemas.openxmlformats.org/officeDocument/2006/relationships/slideMaster" Target="/ppt/slideMasters/slideMaster1.xml" Id="R96acd811756b4dad" /><Relationship Type="http://schemas.openxmlformats.org/officeDocument/2006/relationships/notesMaster" Target="/ppt/notesMasters/notesMaster1.xml" Id="Rbd5bbc8f391d4dec" /><Relationship Type="http://schemas.openxmlformats.org/officeDocument/2006/relationships/presProps" Target="/ppt/presProps.xml" Id="R04be5647cb3a415f" /><Relationship Type="http://schemas.openxmlformats.org/officeDocument/2006/relationships/tableStyles" Target="/ppt/tableStyles.xml" Id="R59f5c77f464a478a" /><Relationship Type="http://schemas.openxmlformats.org/officeDocument/2006/relationships/slide" Target="/ppt/slides/slide1.xml" Id="R89e1df8ef3c840b1" /><Relationship Type="http://schemas.openxmlformats.org/officeDocument/2006/relationships/slide" Target="/ppt/slides/slide2.xml" Id="Rad5940a790674530" /><Relationship Type="http://schemas.openxmlformats.org/officeDocument/2006/relationships/slide" Target="/ppt/slides/slide3.xml" Id="R61d39e5820ac4c70" /><Relationship Type="http://schemas.openxmlformats.org/officeDocument/2006/relationships/slide" Target="/ppt/slides/slide4.xml" Id="Rf3dcd95dea024661" /><Relationship Type="http://schemas.openxmlformats.org/officeDocument/2006/relationships/slide" Target="/ppt/slides/slide5.xml" Id="R59c9e6552c714f18" /><Relationship Type="http://schemas.openxmlformats.org/officeDocument/2006/relationships/slide" Target="/ppt/slides/slide6.xml" Id="R877c8498f9504dfb" /><Relationship Type="http://schemas.openxmlformats.org/officeDocument/2006/relationships/slide" Target="/ppt/slides/slide7.xml" Id="Rbc20e6f1e9b14ecb" /><Relationship Type="http://schemas.openxmlformats.org/officeDocument/2006/relationships/slide" Target="/ppt/slides/slide8.xml" Id="Rba50dcf0c5ab443f" /><Relationship Type="http://schemas.openxmlformats.org/officeDocument/2006/relationships/slide" Target="/ppt/slides/slide9.xml" Id="R741490c55f50476f" /><Relationship Type="http://schemas.openxmlformats.org/officeDocument/2006/relationships/slide" Target="/ppt/slides/slide10.xml" Id="R5996ada30a1b4c2a" /><Relationship Type="http://schemas.openxmlformats.org/officeDocument/2006/relationships/slide" Target="/ppt/slides/slide11.xml" Id="R156684ce28274937" /><Relationship Type="http://schemas.openxmlformats.org/officeDocument/2006/relationships/slide" Target="/ppt/slides/slide12.xml" Id="Rc274fcfd8f624d5a" /><Relationship Type="http://schemas.openxmlformats.org/officeDocument/2006/relationships/slide" Target="/ppt/slides/slide13.xml" Id="R7db048c9103742a9" /><Relationship Type="http://schemas.openxmlformats.org/officeDocument/2006/relationships/slide" Target="/ppt/slides/slide14.xml" Id="Rf456cc680e4741dc" /><Relationship Type="http://schemas.openxmlformats.org/officeDocument/2006/relationships/slide" Target="/ppt/slides/slide15.xml" Id="R0d84f8eb0ff6488d" /><Relationship Type="http://schemas.openxmlformats.org/officeDocument/2006/relationships/slide" Target="/ppt/slides/slide16.xml" Id="Rb88a66f95c684320" /><Relationship Type="http://schemas.openxmlformats.org/officeDocument/2006/relationships/slide" Target="/ppt/slides/slide17.xml" Id="R8e5845a5aae64c79" /><Relationship Type="http://schemas.openxmlformats.org/officeDocument/2006/relationships/slide" Target="/ppt/slides/slide18.xml" Id="Ra47cf002d49340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738152eda84d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5da61839de4a43" /><Relationship Type="http://schemas.openxmlformats.org/officeDocument/2006/relationships/notesMaster" Target="/ppt/notesMasters/notesMaster1.xml" Id="R93fad515e3e047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ba0a44b4dd4aea" /><Relationship Type="http://schemas.openxmlformats.org/officeDocument/2006/relationships/notesMaster" Target="/ppt/notesMasters/notesMaster1.xml" Id="Rbf46bb0e75bc43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329f205490445b" /><Relationship Type="http://schemas.openxmlformats.org/officeDocument/2006/relationships/notesMaster" Target="/ppt/notesMasters/notesMaster1.xml" Id="R7425eca9241142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826100d12f4ba8" /><Relationship Type="http://schemas.openxmlformats.org/officeDocument/2006/relationships/notesMaster" Target="/ppt/notesMasters/notesMaster1.xml" Id="Redddc279b26b40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9646af5a0c4419" /><Relationship Type="http://schemas.openxmlformats.org/officeDocument/2006/relationships/notesMaster" Target="/ppt/notesMasters/notesMaster1.xml" Id="Rae2d6b97b7b54a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6cd5e41c2d4fab" /><Relationship Type="http://schemas.openxmlformats.org/officeDocument/2006/relationships/notesMaster" Target="/ppt/notesMasters/notesMaster1.xml" Id="R4a576b04c7af41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da858469104339" /><Relationship Type="http://schemas.openxmlformats.org/officeDocument/2006/relationships/notesMaster" Target="/ppt/notesMasters/notesMaster1.xml" Id="Ra09dc27c0add41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7c5e959600469f" /><Relationship Type="http://schemas.openxmlformats.org/officeDocument/2006/relationships/notesMaster" Target="/ppt/notesMasters/notesMaster1.xml" Id="Rdcb44332b5b84c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0a42a0a5ac4e4e" /><Relationship Type="http://schemas.openxmlformats.org/officeDocument/2006/relationships/notesMaster" Target="/ppt/notesMasters/notesMaster1.xml" Id="Rd96a2f52c02243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e9453410f5447c" /><Relationship Type="http://schemas.openxmlformats.org/officeDocument/2006/relationships/notesMaster" Target="/ppt/notesMasters/notesMaster1.xml" Id="R4cb67a48ad8f4c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af16474d6f4c5c" /><Relationship Type="http://schemas.openxmlformats.org/officeDocument/2006/relationships/notesMaster" Target="/ppt/notesMasters/notesMaster1.xml" Id="R0365c620751249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cc99594de24630" /><Relationship Type="http://schemas.openxmlformats.org/officeDocument/2006/relationships/notesMaster" Target="/ppt/notesMasters/notesMaster1.xml" Id="Rcbfd82a6798541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ff2f6c6cb147ae" /><Relationship Type="http://schemas.openxmlformats.org/officeDocument/2006/relationships/notesMaster" Target="/ppt/notesMasters/notesMaster1.xml" Id="R3b4d5cfd0ea84b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9d5f115b9e41e0" /><Relationship Type="http://schemas.openxmlformats.org/officeDocument/2006/relationships/notesMaster" Target="/ppt/notesMasters/notesMaster1.xml" Id="R45fdd6c8212443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a3242faadb481f" /><Relationship Type="http://schemas.openxmlformats.org/officeDocument/2006/relationships/notesMaster" Target="/ppt/notesMasters/notesMaster1.xml" Id="Rcf8a0eb484ab4d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0dad2bb3aa4da2" /><Relationship Type="http://schemas.openxmlformats.org/officeDocument/2006/relationships/notesMaster" Target="/ppt/notesMasters/notesMaster1.xml" Id="R2d22f02c72fb4a3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192f6696514995" /><Relationship Type="http://schemas.openxmlformats.org/officeDocument/2006/relationships/notesMaster" Target="/ppt/notesMasters/notesMaster1.xml" Id="Rb1dad91f93dc4f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33c64f707f464b" /><Relationship Type="http://schemas.openxmlformats.org/officeDocument/2006/relationships/notesMaster" Target="/ppt/notesMasters/notesMaster1.xml" Id="R7b14ac40e2624e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boundary: this is a portfolio-grade synthetic control tower, not an autonomous plant-control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artifacts/results/pipeline_metrics.json</a:t>
            </a:r>
          </a:p>
          <a:p xmlns:a="http://schemas.openxmlformats.org/drawingml/2006/main">
            <a:r>
              <a:t>- src/manufacturing_ct/synthetic.py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artifacts/results/pipeline_metrics.json</a:t>
            </a:r>
          </a:p>
          <a:p xmlns:a="http://schemas.openxmlformats.org/drawingml/2006/main">
            <a:r>
              <a:t>- artifacts/results/process_capability.csv</a:t>
            </a:r>
          </a:p>
          <a:p xmlns:a="http://schemas.openxmlformats.org/drawingml/2006/main">
            <a:r>
              <a:t>- artifacts/results/downtime_pareto.csv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artifacts/results/pipeline_metrics.json</a:t>
            </a:r>
          </a:p>
          <a:p xmlns:a="http://schemas.openxmlformats.org/drawingml/2006/main">
            <a:r>
              <a:t>- artifacts/results/pipeline_config.json</a:t>
            </a:r>
          </a:p>
          <a:p xmlns:a="http://schemas.openxmlformats.org/drawingml/2006/main">
            <a:r>
              <a:t>- docs/data_contract.md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docs/adr/001-recommendation-only-boundary.md</a:t>
            </a:r>
          </a:p>
          <a:p xmlns:a="http://schemas.openxmlformats.org/drawingml/2006/main">
            <a:r>
              <a:t>- sql/schema.sql</a:t>
            </a:r>
          </a:p>
          <a:p xmlns:a="http://schemas.openxmlformats.org/drawingml/2006/main">
            <a:r>
              <a:t>- src/manufacturing_ct/api.py</a:t>
            </a:r>
          </a:p>
          <a:p xmlns:a="http://schemas.openxmlformats.org/drawingml/2006/main">
            <a:r>
              <a:t>- docker-compose.yml</a:t>
            </a:r>
          </a:p>
          <a:p xmlns:a="http://schemas.openxmlformats.org/drawingml/2006/main">
            <a:r>
              <a:t>- k8s/</a:t>
            </a:r>
          </a:p>
          <a:p xmlns:a="http://schemas.openxmlformats.org/drawingml/2006/main">
            <a:r>
              <a:t>- monitoring/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artifacts/results/pipeline_metrics.json</a:t>
            </a:r>
          </a:p>
          <a:p xmlns:a="http://schemas.openxmlformats.org/drawingml/2006/main">
            <a:r>
              <a:t>- artifacts/results/oee_monthly_line.csv</a:t>
            </a:r>
          </a:p>
          <a:p xmlns:a="http://schemas.openxmlformats.org/drawingml/2006/main">
            <a:r>
              <a:t>- artifacts/figures/oee_monthly_trend.png</a:t>
            </a:r>
          </a:p>
          <a:p xmlns:a="http://schemas.openxmlformats.org/drawingml/2006/main">
            <a:r>
              <a:t>- docs/reference_crosswalk.md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artifacts/results/downtime_pareto.csv</a:t>
            </a:r>
          </a:p>
          <a:p xmlns:a="http://schemas.openxmlformats.org/drawingml/2006/main">
            <a:r>
              <a:t>- artifacts/results/reliability_metrics.csv</a:t>
            </a:r>
          </a:p>
          <a:p xmlns:a="http://schemas.openxmlformats.org/drawingml/2006/main">
            <a:r>
              <a:t>- artifacts/results/pipeline_metrics.json</a:t>
            </a:r>
          </a:p>
          <a:p xmlns:a="http://schemas.openxmlformats.org/drawingml/2006/main">
            <a:r>
              <a:t>- artifacts/figures/downtime_pareto.png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artifacts/results/process_capability.csv</a:t>
            </a:r>
          </a:p>
          <a:p xmlns:a="http://schemas.openxmlformats.org/drawingml/2006/main">
            <a:r>
              <a:t>- artifacts/results/pipeline_metrics.json</a:t>
            </a:r>
          </a:p>
          <a:p xmlns:a="http://schemas.openxmlformats.org/drawingml/2006/main">
            <a:r>
              <a:t>- artifacts/figures/process_capability.png</a:t>
            </a:r>
          </a:p>
          <a:p xmlns:a="http://schemas.openxmlformats.org/drawingml/2006/main">
            <a:r>
              <a:t>- https://www.itl.nist.gov/div898/handbook/pmc/section1/pmc16.htm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artifacts/results/spc_metadata.json</a:t>
            </a:r>
          </a:p>
          <a:p xmlns:a="http://schemas.openxmlformats.org/drawingml/2006/main">
            <a:r>
              <a:t>- artifacts/results/spc_xbar_r.csv</a:t>
            </a:r>
          </a:p>
          <a:p xmlns:a="http://schemas.openxmlformats.org/drawingml/2006/main">
            <a:r>
              <a:t>- artifacts/figures/spc_xbar.png</a:t>
            </a:r>
          </a:p>
          <a:p xmlns:a="http://schemas.openxmlformats.org/drawingml/2006/main">
            <a:r>
              <a:t>- docs/spc_methodology.md</a:t>
            </a:r>
          </a:p>
          <a:p xmlns:a="http://schemas.openxmlformats.org/drawingml/2006/main">
            <a:r>
              <a:t>- https://www.itl.nist.gov/div898/handbook/pmc/section3/pmc3.htm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artifacts/results/pipeline_metrics.json</a:t>
            </a:r>
          </a:p>
          <a:p xmlns:a="http://schemas.openxmlformats.org/drawingml/2006/main">
            <a:r>
              <a:t>- src/manufacturing_ct/modeling.py</a:t>
            </a:r>
          </a:p>
          <a:p xmlns:a="http://schemas.openxmlformats.org/drawingml/2006/main">
            <a:r>
              <a:t>- docs/governance/validation_report.md</a:t>
            </a:r>
          </a:p>
          <a:p xmlns:a="http://schemas.openxmlformats.org/drawingml/2006/main">
            <a:r>
              <a:t>- docs/adr/003-temporal-validation.md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artifacts/results/pipeline_metrics.json</a:t>
            </a:r>
          </a:p>
          <a:p xmlns:a="http://schemas.openxmlformats.org/drawingml/2006/main">
            <a:r>
              <a:t>- artifacts/results/oot_predictions.csv</a:t>
            </a:r>
          </a:p>
          <a:p xmlns:a="http://schemas.openxmlformats.org/drawingml/2006/main">
            <a:r>
              <a:t>- docs/governance/model_card.md</a:t>
            </a:r>
          </a:p>
          <a:p xmlns:a="http://schemas.openxmlformats.org/drawingml/2006/main">
            <a:r>
              <a:t>- docs/governance/validation_report.md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artifacts/results/calibration_curve.csv</a:t>
            </a:r>
          </a:p>
          <a:p xmlns:a="http://schemas.openxmlformats.org/drawingml/2006/main">
            <a:r>
              <a:t>- artifacts/results/oot_predictions.csv</a:t>
            </a:r>
          </a:p>
          <a:p xmlns:a="http://schemas.openxmlformats.org/drawingml/2006/main">
            <a:r>
              <a:t>- artifacts/figures/model_calibration.png</a:t>
            </a:r>
          </a:p>
          <a:p xmlns:a="http://schemas.openxmlformats.org/drawingml/2006/main">
            <a:r>
              <a:t>- artifacts/figures/oot_confusion_matrix.png</a:t>
            </a:r>
          </a:p>
          <a:p xmlns:a="http://schemas.openxmlformats.org/drawingml/2006/main">
            <a:r>
              <a:t>- artifacts/results/pipeline_metrics.json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artifacts/results/shap_global_importance.csv</a:t>
            </a:r>
          </a:p>
          <a:p xmlns:a="http://schemas.openxmlformats.org/drawingml/2006/main">
            <a:r>
              <a:t>- artifacts/results/shap_local_explanations.csv</a:t>
            </a:r>
          </a:p>
          <a:p xmlns:a="http://schemas.openxmlformats.org/drawingml/2006/main">
            <a:r>
              <a:t>- artifacts/figures/shap_global_importance.png</a:t>
            </a:r>
          </a:p>
          <a:p xmlns:a="http://schemas.openxmlformats.org/drawingml/2006/main">
            <a:r>
              <a:t>- artifacts/results/pipeline_metrics.json</a:t>
            </a:r>
          </a:p>
          <a:p xmlns:a="http://schemas.openxmlformats.org/drawingml/2006/main">
            <a:r>
              <a:t>- src/manufacturing_ct/explain.py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artifacts/results/maintenance_priority.csv</a:t>
            </a:r>
          </a:p>
          <a:p xmlns:a="http://schemas.openxmlformats.org/drawingml/2006/main">
            <a:r>
              <a:t>- artifacts/results/policy_config.json</a:t>
            </a:r>
          </a:p>
          <a:p xmlns:a="http://schemas.openxmlformats.org/drawingml/2006/main">
            <a:r>
              <a:t>- artifacts/figures/maintenance_priority.png</a:t>
            </a:r>
          </a:p>
          <a:p xmlns:a="http://schemas.openxmlformats.org/drawingml/2006/main">
            <a:r>
              <a:t>- src/manufacturing_ct/policy.py</a:t>
            </a:r>
          </a:p>
          <a:p xmlns:a="http://schemas.openxmlformats.org/drawingml/2006/main">
            <a:r>
              <a:t>- docs/adr/001-recommendation-only-boundary.md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src/manufacturing_ct/api.py</a:t>
            </a:r>
          </a:p>
          <a:p xmlns:a="http://schemas.openxmlformats.org/drawingml/2006/main">
            <a:r>
              <a:t>- sql/schema.sql</a:t>
            </a:r>
          </a:p>
          <a:p xmlns:a="http://schemas.openxmlformats.org/drawingml/2006/main">
            <a:r>
              <a:t>- powerbi/ManufacturingControlTower.pbip</a:t>
            </a:r>
          </a:p>
          <a:p xmlns:a="http://schemas.openxmlformats.org/drawingml/2006/main">
            <a:r>
              <a:t>- deliverables/excel/Manufacturing_Control_Tower.xlsx</a:t>
            </a:r>
          </a:p>
          <a:p xmlns:a="http://schemas.openxmlformats.org/drawingml/2006/main">
            <a:r>
              <a:t>- docker-compose.yml</a:t>
            </a:r>
          </a:p>
          <a:p xmlns:a="http://schemas.openxmlformats.org/drawingml/2006/main">
            <a:r>
              <a:t>- k8s/</a:t>
            </a:r>
          </a:p>
          <a:p xmlns:a="http://schemas.openxmlformats.org/drawingml/2006/main">
            <a:r>
              <a:t>- monitoring/</a:t>
            </a:r>
          </a:p>
          <a:p xmlns:a="http://schemas.openxmlformats.org/drawingml/2006/main">
            <a:r>
              <a:t>- .github/workflows/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artifacts/results/data_drift.csv</a:t>
            </a:r>
          </a:p>
          <a:p xmlns:a="http://schemas.openxmlformats.org/drawingml/2006/main">
            <a:r>
              <a:t>- artifacts/results/data_quality_checks.csv</a:t>
            </a:r>
          </a:p>
          <a:p xmlns:a="http://schemas.openxmlformats.org/drawingml/2006/main">
            <a:r>
              <a:t>- artifacts/results/pipeline_metrics.json</a:t>
            </a:r>
          </a:p>
          <a:p xmlns:a="http://schemas.openxmlformats.org/drawingml/2006/main">
            <a:r>
              <a:t>- artifacts/figures/feature_drift.png</a:t>
            </a:r>
          </a:p>
          <a:p xmlns:a="http://schemas.openxmlformats.org/drawingml/2006/main">
            <a:r>
              <a:t>- docs/monitoring_runbook.md</a:t>
            </a:r>
          </a:p>
          <a:p xmlns:a="http://schemas.openxmlformats.org/drawingml/2006/main">
            <a:r>
              <a:t>- monitoring/prometheus/rules.yml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docs/monitoring_runbook.md</a:t>
            </a:r>
          </a:p>
          <a:p xmlns:a="http://schemas.openxmlformats.org/drawingml/2006/main">
            <a:r>
              <a:t>- docs/governance/incident_response.md</a:t>
            </a:r>
          </a:p>
          <a:p xmlns:a="http://schemas.openxmlformats.org/drawingml/2006/main">
            <a:r>
              <a:t>- docs/governance/risk_register.md</a:t>
            </a:r>
          </a:p>
          <a:p xmlns:a="http://schemas.openxmlformats.org/drawingml/2006/main">
            <a:r>
              <a:t>- docs/governance/threat_model.md</a:t>
            </a:r>
          </a:p>
          <a:p xmlns:a="http://schemas.openxmlformats.org/drawingml/2006/main">
            <a:r>
              <a:t>- docs/reference_crosswalk.md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README_TR.md</a:t>
            </a:r>
          </a:p>
          <a:p xmlns:a="http://schemas.openxmlformats.org/drawingml/2006/main">
            <a:r>
              <a:t>- powerbi/</a:t>
            </a:r>
          </a:p>
          <a:p xmlns:a="http://schemas.openxmlformats.org/drawingml/2006/main">
            <a:r>
              <a:t>- deliverables/excel/Manufacturing_Control_Tower.xlsx</a:t>
            </a:r>
          </a:p>
          <a:p xmlns:a="http://schemas.openxmlformats.org/drawingml/2006/main">
            <a:r>
              <a:t>- deliverables/report/Manufacturing_Control_Tower_Governance_Report.pdf</a:t>
            </a:r>
          </a:p>
          <a:p xmlns:a="http://schemas.openxmlformats.org/drawingml/2006/main">
            <a:r>
              <a:t>- .github/</a:t>
            </a:r>
          </a:p>
          <a:p xmlns:a="http://schemas.openxmlformats.org/drawingml/2006/main">
            <a:r>
              <a:t>- 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artifacts/results/pipeline_metrics.json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docs/adr/001-recommendation-only-boundary.md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020e94b554a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f1061e3b934c76" /><Relationship Type="http://schemas.openxmlformats.org/officeDocument/2006/relationships/slideLayout" Target="/ppt/slideLayouts/slideLayout1.xml" Id="R67e94aea00314f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94aea0031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8525a23b94e07" /><Relationship Type="http://schemas.openxmlformats.org/officeDocument/2006/relationships/notesSlide" Target="/ppt/notesSlides/notesSlide1.xml" Id="R1ce6c297d70142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dadf6a6554fa1" /><Relationship Type="http://schemas.openxmlformats.org/officeDocument/2006/relationships/notesSlide" Target="/ppt/notesSlides/notesSlide2.xml" Id="R33389e18b6d242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8840f44094133" /><Relationship Type="http://schemas.openxmlformats.org/officeDocument/2006/relationships/notesSlide" Target="/ppt/notesSlides/notesSlide3.xml" Id="Rcdfc92c15d474d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66c17e3094e2e" /><Relationship Type="http://schemas.openxmlformats.org/officeDocument/2006/relationships/notesSlide" Target="/ppt/notesSlides/notesSlide4.xml" Id="Rcdd6f72752da4e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e7c5b35f7414c" /><Relationship Type="http://schemas.openxmlformats.org/officeDocument/2006/relationships/image" Target="/ppt/media/image.png" Id="Rdfa8ea0739a541eb" /><Relationship Type="http://schemas.openxmlformats.org/officeDocument/2006/relationships/notesSlide" Target="/ppt/notesSlides/notesSlide5.xml" Id="Rfbcd6412b8d24e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2c6d8f8c942dc" /><Relationship Type="http://schemas.openxmlformats.org/officeDocument/2006/relationships/image" Target="/ppt/media/image2.png" Id="R6b769d9201704298" /><Relationship Type="http://schemas.openxmlformats.org/officeDocument/2006/relationships/notesSlide" Target="/ppt/notesSlides/notesSlide6.xml" Id="R6447497a732442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7da57b2c0435c" /><Relationship Type="http://schemas.openxmlformats.org/officeDocument/2006/relationships/image" Target="/ppt/media/image3.png" Id="Rcdb464fcb4ba4ef6" /><Relationship Type="http://schemas.openxmlformats.org/officeDocument/2006/relationships/notesSlide" Target="/ppt/notesSlides/notesSlide7.xml" Id="Rbf978cb7db7543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def2df8f44011" /><Relationship Type="http://schemas.openxmlformats.org/officeDocument/2006/relationships/image" Target="/ppt/media/image4.png" Id="R6b14b0ff120142c3" /><Relationship Type="http://schemas.openxmlformats.org/officeDocument/2006/relationships/notesSlide" Target="/ppt/notesSlides/notesSlide8.xml" Id="Rc946c7bf8f7f49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ba24047b14b43" /><Relationship Type="http://schemas.openxmlformats.org/officeDocument/2006/relationships/notesSlide" Target="/ppt/notesSlides/notesSlide9.xml" Id="Rd9daf5cc2dce42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09a32ea6b47e3" /><Relationship Type="http://schemas.openxmlformats.org/officeDocument/2006/relationships/notesSlide" Target="/ppt/notesSlides/notesSlide10.xml" Id="Rebb17943714849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31b1194794a22" /><Relationship Type="http://schemas.openxmlformats.org/officeDocument/2006/relationships/image" Target="/ppt/media/image5.png" Id="R8498288d00e1470f" /><Relationship Type="http://schemas.openxmlformats.org/officeDocument/2006/relationships/image" Target="/ppt/media/image6.png" Id="R7ca4d9babcb74665" /><Relationship Type="http://schemas.openxmlformats.org/officeDocument/2006/relationships/notesSlide" Target="/ppt/notesSlides/notesSlide11.xml" Id="Ra8dc1cb9672341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9125944824199" /><Relationship Type="http://schemas.openxmlformats.org/officeDocument/2006/relationships/image" Target="/ppt/media/image7.png" Id="R683f2479f61d4ac6" /><Relationship Type="http://schemas.openxmlformats.org/officeDocument/2006/relationships/notesSlide" Target="/ppt/notesSlides/notesSlide12.xml" Id="Rc006b705d89847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257787d08453e" /><Relationship Type="http://schemas.openxmlformats.org/officeDocument/2006/relationships/image" Target="/ppt/media/image8.png" Id="R2953367641df46de" /><Relationship Type="http://schemas.openxmlformats.org/officeDocument/2006/relationships/notesSlide" Target="/ppt/notesSlides/notesSlide13.xml" Id="R7ace48e65f5242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bc0423f11493b" /><Relationship Type="http://schemas.openxmlformats.org/officeDocument/2006/relationships/notesSlide" Target="/ppt/notesSlides/notesSlide14.xml" Id="Rc846b8fadad944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0747cc5c246b5" /><Relationship Type="http://schemas.openxmlformats.org/officeDocument/2006/relationships/image" Target="/ppt/media/image9.png" Id="Ra8e56be4e75a4866" /><Relationship Type="http://schemas.openxmlformats.org/officeDocument/2006/relationships/notesSlide" Target="/ppt/notesSlides/notesSlide15.xml" Id="Ra5f88ad88c6048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2ef3b46f24031" /><Relationship Type="http://schemas.openxmlformats.org/officeDocument/2006/relationships/notesSlide" Target="/ppt/notesSlides/notesSlide16.xml" Id="R5279f9b29ac248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dc6c7a30a47e1" /><Relationship Type="http://schemas.openxmlformats.org/officeDocument/2006/relationships/notesSlide" Target="/ppt/notesSlides/notesSlide17.xml" Id="Rf07580264ea542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7d465b54f45b1" /><Relationship Type="http://schemas.openxmlformats.org/officeDocument/2006/relationships/notesSlide" Target="/ppt/notesSlides/notesSlide18.xml" Id="R8c2534970ea144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BA9F6-EF15-48DE-A871-E54BB459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55103-37BA-459E-AA1D-479F7054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MANUFACTURING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52616-81E8-45E8-B367-F6DC73CF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7524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Quality, OEE &amp;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Predictive Maintenance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Control Tower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2B06E-EE23-4A73-9599-4DBB75BA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D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EDF2"/>
                </a:solidFill>
                <a:latin typeface="Aptos"/>
                <a:ea typeface="Aptos"/>
                <a:cs typeface="Aptos"/>
              </a:rPr>
              <a:t>A governed, recommendation-only decision system built on deterministic synthetic plant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97858-0059-4870-ABB4-9BF2C0FB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3906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20DB3-FA84-4BDC-958D-BD264BC8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OEE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EA482-D008-4E13-BF31-89C94E48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0125"/>
            <a:ext cx="13906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98832-9361-4987-8128-288B3684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339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SPC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8B93A-CC52-4A64-9720-512CC8D9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0125"/>
            <a:ext cx="13906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2DBE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05332-46E9-433C-B4A7-E02E072E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339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BE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BE8C"/>
                </a:solidFill>
                <a:latin typeface="Aptos"/>
                <a:ea typeface="Aptos"/>
                <a:cs typeface="Aptos"/>
              </a:rPr>
              <a:t>SHAP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219D0-1393-4A99-9421-95ADB5DB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10125"/>
            <a:ext cx="13906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1DD8A-E182-4174-8444-BE7AEE2C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339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4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C453"/>
                </a:solidFill>
                <a:latin typeface="Aptos"/>
                <a:ea typeface="Aptos"/>
                <a:cs typeface="Aptos"/>
              </a:rPr>
              <a:t>HUMAN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4BB28-3991-433F-9A1C-FF586B27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477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5358B-3009-410E-950C-2B77B9C7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097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6C03B-8A7E-4C54-9FF1-DC9BE2FD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0225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8ED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DF2"/>
                </a:solidFill>
                <a:latin typeface="Aptos"/>
                <a:ea typeface="Aptos"/>
                <a:cs typeface="Aptos"/>
              </a:rPr>
              <a:t>production lines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73409-4A98-4B46-9BD1-C57B3546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050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3E3B4-9DB2-4C55-B102-91FFD6DC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95575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8ED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DF2"/>
                </a:solidFill>
                <a:latin typeface="Aptos"/>
                <a:ea typeface="Aptos"/>
                <a:cs typeface="Aptos"/>
              </a:rPr>
              <a:t>machines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04370-6131-4582-901E-6FEDB147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00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DBE8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DBE8C"/>
                </a:solidFill>
                <a:latin typeface="Aptos"/>
                <a:ea typeface="Aptos"/>
                <a:cs typeface="Aptos"/>
              </a:rPr>
              <a:t>98,460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91762-8023-4BF5-A997-0742EF9C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90925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8ED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DF2"/>
                </a:solidFill>
                <a:latin typeface="Aptos"/>
                <a:ea typeface="Aptos"/>
                <a:cs typeface="Aptos"/>
              </a:rPr>
              <a:t>CTQ measurements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6332C-ADBC-40EB-BD0A-8856D640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95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6C45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6C453"/>
                </a:solidFill>
                <a:latin typeface="Aptos"/>
                <a:ea typeface="Aptos"/>
                <a:cs typeface="Aptos"/>
              </a:rPr>
              <a:t>24h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74051-2719-4668-9535-C451D88F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86275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8ED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DF2"/>
                </a:solidFill>
                <a:latin typeface="Aptos"/>
                <a:ea typeface="Aptos"/>
                <a:cs typeface="Aptos"/>
              </a:rPr>
              <a:t>failure horizon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EFFE2-7E3E-4602-B5B7-9D6D9AAB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Executive deck • July 2026</a:t>
            </a:r>
          </a:p>
        </p:txBody>
      </p:sp>
    </p:spTree>
    <p:extLst>
      <p:ext uri="{BB962C8B-B14F-4D97-AF65-F5344CB8AC3E}">
        <p14:creationId xmlns:p14="http://schemas.microsoft.com/office/powerpoint/2010/main" val="1693609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094996-A0D6-4C7C-B069-510A0433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7FFCD-7362-404A-9A64-41B6B2FB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EXECUTIVE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34B17-22FB-45B5-B76C-95BC33A2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The plant clears the OEE target—model burden needs attention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31744-4445-456A-B6E0-1B9008CC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EEAFB-3843-401B-BD9C-9E1E97ED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85.27% OEE combines strong availability with a quality constraint; the model captures 73.51% of 24-hour failures but sends more OOT alerts than the validation capacity cap.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C5C84-CD5F-44FE-AD44-FCAC341C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206692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8ADEB-A5EB-4F73-AF1E-929FD7EE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905F7-E7BA-4C6C-82CC-5B98B834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049A1-C6DB-49B5-B935-483AEA2F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85.27%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3CD7A-4BDE-489B-AF90-80AAF2A1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762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 × P × 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910F4-B6D1-4C9A-88CE-F92A5B69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924050"/>
            <a:ext cx="206692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459AB-9A89-47B6-9526-5FEA4E08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9240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98701-F7B5-4256-8376-A4A7CE7D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5740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QUALITY / FPY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15AA6-7BDA-4022-A0D7-FA4F05C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2860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95.27%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38A39-4FE8-44CD-8052-802542C6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09875"/>
            <a:ext cx="1762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first-pass good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DBF50-85FF-434C-8989-042CEEC7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24050"/>
            <a:ext cx="206692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6AD85-BBF3-4E26-9C41-0185C3AF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240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B66BC-39BA-4F48-810E-6EF67645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5740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UNPLANNED 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49F8B-7718-4FC9-BCE6-A63BF06A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860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2,466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70E23-3F04-4BD9-8641-2415F226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09875"/>
            <a:ext cx="1762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synthetic period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8B794-998F-4E6C-B55A-9A93309F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924050"/>
            <a:ext cx="206692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CA2AD-2DEA-420A-AB72-0DA48A38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9240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70D74-BA0C-4042-8461-A7AEB377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5740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OOT PR-AUC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A910E-47E2-4681-BB39-6230384D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2860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0.389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D4922E-E9ED-4CA4-9900-0BF4DD13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809875"/>
            <a:ext cx="1762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2.52× baseline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F3D195-D7E5-4FEB-ACC3-84F5D446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206692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9111A9-4CBB-4C6F-AFC2-76057A61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40F88A-9606-4E7B-AF85-B814ADE7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5740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OOT RECALL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01B37C-8A9E-4D4F-B0AA-E957476B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860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73.51%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0E723-DA55-4989-84B2-F75A337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9875"/>
            <a:ext cx="1762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178 misses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84CA26-75ED-41ED-B195-E5753B97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3476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B83269-A070-4281-AE90-897EDACB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3133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47DB37-8918-4C8C-8992-039F97B1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3133725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Availability is 98.36%, yet 2,466 unplanned downtime hours remain. Electrical and minor stops dominate the Pareto.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0266D8-419A-4E86-858F-7FCC455D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429000"/>
            <a:ext cx="3476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2DBE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92AD54-99BA-49F7-BB1A-A1A21E8E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71875"/>
            <a:ext cx="3133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BE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BE8C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076DED-AF0F-47D7-AFD3-6164F8FC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38575"/>
            <a:ext cx="3133725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FPY is 95.27%. PRD-A has the lowest long-term Ppk (0.92), making it the first capability investigation.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3495B2-07AE-415D-92B9-73603868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3476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00950D-7FD9-4A42-9022-94AFE3DA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3133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MODEL CONTROL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0D5AC8-F8DD-4FA3-9911-4D9AADA0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38575"/>
            <a:ext cx="3133725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OOT alert rate is 43.11%, above the 40% review-capacity design cap. Treat it as an operational watch item, not hidden model success.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A5F8EB-9B97-4DF7-B349-04A0F075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942CA8-7BD0-47F6-B1A3-47EFCCC2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579609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27913B-0E46-41A9-8E82-684B72EC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FA74E-2D19-4905-8F29-8DE5812C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DATA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8DF6A-EC29-45EB-A3BB-CEE73B5F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2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A deterministic plant with enough structure to stress every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AFAB1-E4FF-48B0-9634-B92A9FA8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CF6F3-7FA7-4869-944A-1B5F9BFF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Four production lines • three machines per line • four products • three shifts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F5416-6497-4D30-9120-866802A6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7334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9B88E-2B8A-43C5-8066-AC7D3EAA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4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5CD2B-4D53-40F3-9579-CC886D9F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LINE-A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A9634-E5C0-4B44-B2D8-B348D811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28775"/>
            <a:ext cx="138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3B949-1F16-4C30-AF4F-E0E536EB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621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MC-01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0CA21-6FB7-49DA-8378-C86785F6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28775"/>
            <a:ext cx="138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981BC-EDCC-44BB-BBD1-1568AA65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MC-02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B0B8D-312B-4422-94E9-C69458EF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28775"/>
            <a:ext cx="138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A5590-D0D8-48EC-B431-EFB6024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621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MC-03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2CD0F-F3DE-43DB-9FA5-F56D9D11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7334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E6F51-26AA-49F6-839B-4F72214E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114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1CBEB-5825-448C-8C1A-459BEA7E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LINE-B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898AD-E0D4-4BDF-94AD-05D170DA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57475"/>
            <a:ext cx="138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D1CCD-DBA8-49FE-A52B-E385BD5F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MC-04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C5BFF-96E9-457B-B2D7-BCB66B28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57475"/>
            <a:ext cx="138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03C1A-3CCF-4BB3-B107-86A4042E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908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MC-05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2AF81-7587-4D34-883F-3D8A8922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57475"/>
            <a:ext cx="138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AE574C-E8F2-4D8F-96F4-D9348884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908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MC-06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BFD5D-73BE-45FB-96E5-E1BF32D1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7334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8415FD-66DC-498C-A56C-09063813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114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4F4DA-21EF-4036-BD5E-0EF94D70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LINE-C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A53027-8151-4667-98CF-9EE779C3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86175"/>
            <a:ext cx="138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4BA788-B78D-4FFB-B8C4-C2F4BB8E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195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MC-07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830937-1ADA-4C11-8B3C-DE16059D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86175"/>
            <a:ext cx="138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0E2DF7-8444-4FDC-A62F-1DF249EA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95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MC-08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864DF4-BD37-47B8-9FC7-FFA0C739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86175"/>
            <a:ext cx="138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AD196-6152-4571-8C84-651C6F5B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95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MC-09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1CD77D-E031-45E0-9CD3-2BA3ED6F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7334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6CC467-913B-4E67-BE40-64BCAE1D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114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298C12-E6AF-41CB-8A5F-0771CF64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LINE-D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861E87-4D87-4607-9F72-E1AAE617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14875"/>
            <a:ext cx="138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0E6E82-DD21-4504-BFC3-599E256D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482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MC-10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3A3987-DCAD-43F9-AE62-D451B1C1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14875"/>
            <a:ext cx="138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57E528-D267-4113-BD77-E1A1C769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482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MC-11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819AE1-43F1-4B15-9FE6-7D69249F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14875"/>
            <a:ext cx="1381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583284-C295-4F2F-A360-7E8AF5EE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482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MC-12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EC9438-429D-4D1E-ACDC-6C0D28A8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429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0D4862-7EBD-4C1B-98A2-7934BCC9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7083E8-231D-4FBD-806D-EC8C9516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PRODUCTION SHIFTS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25BCF4-D7E7-4929-A3C4-B132808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907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19,692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B6A0CA-2D79-43DF-A779-AB67D2F4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81225"/>
            <a:ext cx="3124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8-hour machine-shift grain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20D350-372D-4176-B1C8-43FACFBC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429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020095-794A-4619-9660-ACCD584A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558E7D-F7CB-42F6-B286-132A7682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QUALITY MEASUREMENTS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6E31A6-B840-4A48-BF29-487722A6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98,460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D66960-365A-4C53-8DEF-9A46C78C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00425"/>
            <a:ext cx="3124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n=5 CTQ subgroups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37EBA0-2991-4778-A577-521E3B5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67150"/>
            <a:ext cx="3429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F06AA7-3586-41B5-B70A-8C7CE8B8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671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15982F-9CEF-4F0B-ABD7-B54BD973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005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DOWNTIME EVENTS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B45913-A35B-4E0C-A373-4015D6DC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291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4,836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5DA82C-A70B-4AAD-AECD-96997A19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9625"/>
            <a:ext cx="3124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planned / unplanned taxonomy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A44132-EECB-4BFF-8D2B-1E235792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86350"/>
            <a:ext cx="3429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B76D23-D0F4-45F8-80B9-D234EEDE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2922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7D9039-6C13-42BA-B165-78E63BAA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95925"/>
            <a:ext cx="3086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Seed 20260729 • 2024-01-01 to 2025-06-30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32C2A2-E307-45DD-8F6F-68C9E594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B09CA7-F944-410A-90B5-56CA6793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3789495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20036B-2A6E-477C-8B82-9F113D8B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915A9-6C73-4B59-A6B3-BABBBF52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C6BED-4867-4BA8-8677-69A1E06C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One governed feature set, five decision layers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7E264-C91C-4626-B96C-0C8224AF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D699C-293E-4938-AA91-F43093B1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1952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D00C4-1CED-4A31-8CA5-D9BC19EF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DD486-D9E7-40EC-BFF7-74E36EE7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SYNTHETIC</a:t>
            </a:r>
          </a:p>
          <a:p xmlns:a="http://schemas.openxmlformats.org/drawingml/2006/main">
            <a:pPr algn="ctr">
              <a:defRPr sz="127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FA060-80D5-46A0-A813-446839AD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plant events + sensors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D9842-AF77-46E3-B0DB-01DAD00B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8954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66557-9C50-483D-8CA2-A3A2155E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466850"/>
            <a:ext cx="1952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BE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3CD45-C063-406E-BB78-AA93E662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4668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6A6E1-5005-429C-AED9-7BE38483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724025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KPI + SPC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A5914-5B0D-4671-AE69-59EBF98A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955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OEE, quality, 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2B81B-D849-4278-8044-146DA447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954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CD3D1-92F6-4445-A6B1-644F5465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66850"/>
            <a:ext cx="1952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95405-4C57-49A4-AC40-C171E97E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668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95108-4089-46D4-8BCF-6958D6BC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24025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TEMPORAL 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F36BA-1DA9-4A00-965A-16622DAF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955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calibration + threshold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317AD-3279-4572-A509-2DC4ADA9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954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52CE9-78E7-4DAA-9DB0-65ED42FF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66850"/>
            <a:ext cx="1952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6F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2DD62-F8CB-4251-96C2-C828541E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668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8B520-F6CB-4626-A2D6-C93FF906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724025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SHAP +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03BE4-FA62-45B0-84CE-F605511C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2955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reason codes + economics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F2720-7633-4AE9-8139-F5DEE944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954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86F3B-1F53-438D-A539-DA9CA00A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466850"/>
            <a:ext cx="1952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9425E0-CBFE-403B-BD71-3D9D49C5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4668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DF1CC4-6724-48F6-B6E0-F135525B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24025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B322C-7657-4E6C-A9ED-933A5A3C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955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recommendation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8B0D2D-4892-4D38-9F6B-D8AE5A65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DATA PLANE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04AB80-6558-46CB-8038-9CF9FE67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41411A-2D0A-48A2-ABB8-F5D7D742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E07724-95BA-4289-A9D6-BF25654E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normalized schema + analytical views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75A727-B02A-4A8B-8760-78FF65AA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004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8B09AC-5AC1-4F04-A555-3423EE66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4332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PBIP + EXCEL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F0C491-6C9C-4A78-BFC1-BE4516F7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decision-ready semantic and formula layers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F206A2-7221-4307-8E95-6A49983B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2DBE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9F191E-2A5E-4297-93F2-0D7D404D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4332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BE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BE8C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CEFE54-A682-4D9A-99EC-E28583E6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00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metrics, figures, model bundle, reports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EF152D-AB03-4654-87CE-E8A7F0D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OPERATIONS PLANE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6568B1-D470-4D50-96BC-1EC3D85D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Docker Compose and Kubernetes deployment profiles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Prometheus metrics, alert rules and Grafana dashboard provisioning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CI, CodeQL, dependency audit, container scan and ownership controls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3EFC7B-C036-4669-84B3-A34D8C76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613087-2420-4089-848A-C0638F53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2045210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414DD6-706A-4E91-B085-9750B173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C4C71-625B-40DF-9B45-85549413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OEE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508C9-98EA-4EE5-970C-670806D7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Stable line trends, with performance as the main OEE limiter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34001-E41F-48D9-B253-D26D2D5C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52B1A-A6DE-4487-AA49-E2E63AE3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78105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8ea0739a541eb"/>
          <a:stretch xmlns:a="http://schemas.openxmlformats.org/drawingml/2006/main"/>
        </p:blipFill>
        <p:spPr>
          <a:xfrm xmlns:a="http://schemas.openxmlformats.org/drawingml/2006/main">
            <a:off x="748812" y="1381125"/>
            <a:ext cx="7227277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5122A-3906-498F-8021-7809845A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7467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Monthly OEE by line • computed from planned time, runtime and first-pass good units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01B1F-325C-451E-B5E4-A4C9EA05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43025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7A55C-8977-4D11-8CA5-E93205E0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430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E984D-F9AA-4970-839D-B2273BB5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763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AVAILABILITY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00A77-ED72-4031-8157-4BD91E42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04975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98.36%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D261D-16FE-4B69-B12C-B3D22F75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43175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1B82D-69D9-4ABD-8710-859F78A0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4317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058F4-3D2C-479A-87C3-E15B4D79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7652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EE578-35BE-4DFC-97E8-06BFF4E4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05125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90.99%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1A8C3-8018-4861-8B46-ABECFCB9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43325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BFE3B-03B4-498D-AE50-987D9863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433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74C50-2D50-4D8C-80D7-09BA3023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766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8E0EB-2614-4BB3-86D2-B64988DE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05275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95.27%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2B1D8-6CF7-4EB8-94F0-80E4E5F2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3524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E30CA-3A24-4F55-84D3-89777F69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DAE7D-73D2-4F90-9B89-7C855907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OEE = Availability × Performance × 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E63B90-782B-4DBD-9925-81A097E2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81625"/>
            <a:ext cx="3714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C3890-59F5-4388-80FC-473E7FBF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0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AB72E3-A91E-40AA-92BD-DF07110D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79120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Performance has the largest mathematical gap to 100%.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240A0-4A63-439B-8F3D-6DCDCC73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81625"/>
            <a:ext cx="3619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2DBE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10B021-16A3-4A33-8A77-3F34C3D2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245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BE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BE8C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D91C51-4C5C-402D-B663-800E06F0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912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5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OEE is descriptive; it does not authorize production actions.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F3E33D-E3B5-476D-9B55-157D6383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7A7FE1-2FB1-4D49-AE97-D3600492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1798292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78A5B6-E55E-4815-A09A-D0B33EDF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F1CE0-B43E-47EB-AA8C-39D73970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DOWNTIME &amp;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3EE74-E6BB-41C2-AD3C-288F9269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Electrical events and minor stops explain 70.53% of downtime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1C1DF-45E3-471B-8A4C-D099B170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0E077-BCDE-49EF-93CD-98ED9FF1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75247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69d9201704298"/>
          <a:stretch xmlns:a="http://schemas.openxmlformats.org/drawingml/2006/main"/>
        </p:blipFill>
        <p:spPr>
          <a:xfrm xmlns:a="http://schemas.openxmlformats.org/drawingml/2006/main">
            <a:off x="926039" y="1390650"/>
            <a:ext cx="6587073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D20BD-8A6D-47CB-887E-440848DE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718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Duration bars and cumulative-share 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ACFEF-AF3C-4253-A29E-900FB678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52550"/>
            <a:ext cx="3409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851EA-9004-47B9-8EC2-1E056ACA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525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65842-C3FF-41E8-A53B-52A685B7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859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MTBF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1F1E8-5046-41FD-8674-6AE2EA25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145.96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F3F67-1A5C-452B-B307-0CBF1737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3105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operating hours / failures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695A6-D776-4905-9DA7-41C900F4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3409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B9457-604E-4C5C-9242-E556AACC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F8B43-8BDB-4EA7-8FB1-A2078417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051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MTTR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2FB28-CC9C-4096-A8C2-2BF50563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1.73 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E7B88-5624-4426-A892-3172C97B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24225"/>
            <a:ext cx="3105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repair hours / failures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B7019-1A1E-404F-8D19-607B7CD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3409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03D3F-BA8E-45B5-8819-171F3CA6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94F3B-0A0E-4B8E-95AD-1A336599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FAILURE 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D9FB1-7820-4405-80D2-327F4F90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529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1,015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14397-90CC-4DBA-B770-7DAFAE36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43425"/>
            <a:ext cx="3105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across 12 machines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1517C-B826-4E2A-9174-D7B2CB5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5286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410AF5-3573-4D23-89CC-75F04E30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494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PARETO PRIORITY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49F93-76FA-40F9-90B3-7A25D666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4943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 with electrical root causes and recurring minor stops.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C6982-91F9-4C3A-B11D-2FF24B13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429250"/>
            <a:ext cx="5762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B88CE-CD2C-41AC-9906-50F07D2D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572125"/>
            <a:ext cx="541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RELIABILITY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5CB6B7-3275-4303-B718-90142E3D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838825"/>
            <a:ext cx="541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Metrics describe the synthetic history; maintenance still requires planner approval.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E1A33D-5BF2-4226-BDF0-470C8A40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1E6E08-BAC9-41F1-8030-453C24CA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4076697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517200-9610-4403-B71B-EAE7BB9F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32118-55D2-42DD-9DAA-60D7E228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QUALITY &amp; CAPABILITY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CF60C-E45E-448B-86C8-7C16A40F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PRD-A is the long-term capability watch item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F119B-0CF4-4C69-B36F-6B0225D1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6897A-D3C7-40F6-8A40-B3BC07B6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572250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464fcb4ba4ef6"/>
          <a:stretch xmlns:a="http://schemas.openxmlformats.org/drawingml/2006/main"/>
        </p:blipFill>
        <p:spPr>
          <a:xfrm xmlns:a="http://schemas.openxmlformats.org/drawingml/2006/main">
            <a:off x="941011" y="1409700"/>
            <a:ext cx="5604627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C6B1D-9493-441D-AC7B-BE8BFBB7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622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Cp/Cpk use within variation; Pp/Ppk use overall variation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44AA3-3161-4FE9-8F64-D1626151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3811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5440C-6E5F-4CAE-8266-EE79B9E8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47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BC6C4-B12E-4E55-8233-AF765E5C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811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5DC65-D042-4B39-9110-2BD63975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478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3157C-4868-4011-9C83-9CA51459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811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DF850-E1D3-4FAB-BCB4-7A32C66A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4478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Ppk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66094-A9D5-46DC-A6D7-9EA00455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811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06001-FC2F-49D7-9A13-984C3D15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478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3946"/>
                </a:solidFill>
                <a:latin typeface="Aptos"/>
                <a:ea typeface="Aptos"/>
                <a:cs typeface="Aptos"/>
              </a:rPr>
              <a:t>PRD-A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705A0-94D8-47B5-BFBC-7AD29E51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811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03D76-9969-4FE4-8B04-95A4DC49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478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3946"/>
                </a:solidFill>
                <a:latin typeface="Aptos"/>
                <a:ea typeface="Aptos"/>
                <a:cs typeface="Aptos"/>
              </a:rPr>
              <a:t>1.10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FC7CA-88C5-4B30-9DF8-BDB3F99F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811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97C73-CCEB-43CC-9CF1-013E68F3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478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3946"/>
                </a:solidFill>
                <a:latin typeface="Aptos"/>
                <a:ea typeface="Aptos"/>
                <a:cs typeface="Aptos"/>
              </a:rPr>
              <a:t>0.92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F9155-F3BB-43E2-A28A-151B76E0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955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302E1-A8D0-40BF-A63C-9E93D969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622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PRD-B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49A88-6448-4C98-97BC-56F00AAF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9552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6B741-7D71-4702-8191-66ED0167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622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2.30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E0B45-861A-4E2D-95C4-9ACD669C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9552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BA9482-0659-4E26-ABCF-6B8E9225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622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1.93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48DFE-A598-407E-B6B8-EA45E6D2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098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0339D-CA92-4CB5-962D-0566AC29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765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PRD-C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FDC9E-864B-4FE9-B597-E0A39E44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09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295B83-77D5-4865-A974-E0BED2B9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765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1.55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9FC53C-E998-4D16-A3D4-EA01C637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987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276381-563F-4E85-B760-0FBADE7F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765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1.30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AAC452-BE08-4739-8745-6C71A2ED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242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A67F5A-597A-414F-840C-2B4E72B4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90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PRD-D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EBD2BF-F6F3-4216-802A-F40D79FA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2422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A932AA-9354-4D7F-B275-F3A67FDE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909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1.73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4B8AB0-2A3C-4425-A69E-7645A057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24225"/>
            <a:ext cx="1190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D866E2-65BA-41AC-B1D2-46BD32E2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909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1.44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81E679-CEF8-4A74-973E-DEC3D817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2590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3B0FC7-2BF0-4758-B302-ABEE678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85D389-6FBB-4A5B-A479-C4AA74DE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FPY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2DEEF9-6C8F-40BF-8929-6D7EC4B3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95.27%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E272AE-417D-459C-ADBB-98EE639A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48250"/>
            <a:ext cx="2590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5983D7-A588-456E-920A-06D871C6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48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3362BD-3D6C-4531-BE89-34A7DF70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81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SCRAP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2405A5-6B51-458B-9936-F1B5495F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102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1.99%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0BD8D5-BDC5-420D-912F-54F77404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2590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1FBDD9-7397-4D3C-80BD-F4ACCAEE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8273E0-AE42-47F3-8A63-8132BA06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E2BB51-9F83-4B17-995E-43E311B2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102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2.75%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7D1ACF-AA23-42C5-A6A7-FCC96709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48250"/>
            <a:ext cx="2590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FFD95D-AF61-44FD-98E6-FED50B8F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48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9C00FA-DFEE-40E3-99F7-8D4367E3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181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COPQ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031BA0-7238-4E11-8307-ACC93036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4102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12,936,906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7A1321-70B0-43C0-9C11-E321A50B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07997E-5C9D-4F99-861F-956554DE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3138659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D880B1-E567-44E5-B31C-FE3D2D21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86858-4CA7-4D7D-8D73-6950A283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STATISTICAL PROCESS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6D399-C02B-4726-B78F-AE6CF053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Chart selection follows data type—not convenience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DE98E-5E94-4993-9083-7E603B5A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8DD2B-1A6F-411B-AD3D-9642CBB4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5875"/>
            <a:ext cx="723900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4b0ff120142c3"/>
          <a:stretch xmlns:a="http://schemas.openxmlformats.org/drawingml/2006/main"/>
        </p:blipFill>
        <p:spPr>
          <a:xfrm xmlns:a="http://schemas.openxmlformats.org/drawingml/2006/main">
            <a:off x="732003" y="1400175"/>
            <a:ext cx="6689394" cy="3171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BA680-A9B3-48FB-A943-5E9E4B73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689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Fixed n=5 CTQ subgroup means • control limits estimated from baseline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9604D-058C-48D4-A417-79CFBEA2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8112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1AE7B-5FF8-4853-93CF-A2963876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478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5BFC8-0BAE-4424-A899-DACACB61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81125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918AA-EA8A-4978-8F2B-EE5E91CF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47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241FE-A721-4D39-854B-535613EE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381125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05095-821A-4390-873B-C20FF73C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447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7D52B-42C3-4AE6-ABEC-5A20015B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62125"/>
            <a:ext cx="1162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CB6DE-CA59-47FB-B7FC-5925579C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28800"/>
            <a:ext cx="971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X-bar/R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F51EC-CB7B-4970-9502-C2BB742D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62125"/>
            <a:ext cx="1676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BD2B2-E6C7-42BD-A243-6C55DBA0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1485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CTQ dimension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A3E2B-0FFE-4C34-813E-678EED08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762125"/>
            <a:ext cx="1466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6A14D-2C39-4BF5-93AE-5A6F72A1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828800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fixed n=5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13C47-39B7-4CBC-A9FF-31282B6B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162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7735C4-1444-45ED-839F-E1DABD65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90775"/>
            <a:ext cx="971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I-MR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76BED-F92C-4144-BC84-7B4E10EB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1676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6A947-087B-41DE-8BF7-6A79497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90775"/>
            <a:ext cx="1485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roughness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EC4A73-46E4-4F10-AFEF-B266925A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324100"/>
            <a:ext cx="1466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0F8EF-330A-4BF8-B17C-B6C5BC69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390775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one observation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BA1032-8D16-4DE1-9857-46757597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86075"/>
            <a:ext cx="1162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4BE1FA-F414-4F72-A016-DFA525AE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52750"/>
            <a:ext cx="971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0B0E05-C033-405F-98F2-7A213485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86075"/>
            <a:ext cx="1676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9BD4AB-DAFB-494C-9ECA-D0B7B42C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1485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defective proportion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2DCD12-0E0E-4BA2-9BE5-C1BC7BF3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86075"/>
            <a:ext cx="1466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D399AA-AF9C-4634-B126-3197EDA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52750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variable 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232F10-BDFD-47D6-AE05-92868316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1162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3206B1-5C06-4846-891B-6BCB1889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14725"/>
            <a:ext cx="971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F5F7B2-2606-4511-B900-7630CBF6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48050"/>
            <a:ext cx="1676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042146-5978-4D81-973F-2A928EBF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14725"/>
            <a:ext cx="1485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defects / unit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5C4D54-3068-4E7B-BC54-F8BF5ADE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448050"/>
            <a:ext cx="14668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B35378-4DF6-4CE6-B032-0681368D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514725"/>
            <a:ext cx="127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variable units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EE32CB-53CC-4D0A-BE1E-F62BFAF2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5476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64F188-AB60-46E3-B0E5-6046E936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5133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DO NOT CONFLATE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6A759C-3BA4-4301-AD7F-8F152D34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51339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limits estimate process behavior. LSL/USL are engineering requirements used for capability.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DDFD78-1C0D-4497-B7C3-0124643D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55054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8D6D23-37B5-4667-A9C5-C030B52C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43525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ALARM RULES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49DA17-ADBA-4B3F-828E-28F4B1FD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10225"/>
            <a:ext cx="5162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Beyond 3σ • 2 of 3 beyond 2σ • 4 of 5 beyond 1σ • 8 points on one side.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66CFE0-586F-4F38-AFDB-F37FF72A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677FFB-A2CB-4472-AB4E-BCA47F37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601004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C55239-BDE9-4BE4-99F4-659F4B11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F3EF2-DA38-487C-91C4-921024D8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MODEL DEVELOPMENT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7F989-80D7-4177-9854-C061A00A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Every model decision is made before the out-of-time window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1CE1F-AF87-4553-BAB4-3395A77A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F9D44-C781-4099-962C-8294F233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25146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6F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A4E9F-7943-4643-91AD-89AC11CA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0E734-ADCD-42FE-B9DD-8B2E36B1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6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6F8A"/>
                </a:solidFill>
                <a:latin typeface="Aptos"/>
                <a:ea typeface="Aptos"/>
                <a:cs typeface="Aptos"/>
              </a:rPr>
              <a:t>MODEL 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E5D3B-798B-492C-8EE6-60D70A9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Jan–Sep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A07AD-E8D8-4837-9206-313D45DA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9,828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5358F-DCC8-48FE-BCB7-E5990380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71625"/>
            <a:ext cx="25146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962AD-84DF-4681-8FA3-74710986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71625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E7DA9-1A44-44F7-B700-1B9F632E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383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CALIBRATION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CF658-7D54-44EE-9A11-2B7CC7C1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0275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Oct–Nov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2C7F1-54E9-4146-A9B5-14E68276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2,160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45635-75CE-46C1-84B8-7D301E2C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71625"/>
            <a:ext cx="25146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C496F-9345-4330-917E-583D99FA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71625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C7641-62D1-40BD-9B25-B8A8B51B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383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A4AF9-987C-4E77-8223-1BBF3F89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0275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Dec 2024–Feb 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3BC1C-43C7-4980-9A9E-96167E23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3,204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B3C893-11B8-4EEC-B68F-A8472874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5146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4830A-4DD6-4808-AC1D-0CE8FFF6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51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DD9F3-39EF-4DC2-9464-84D4EED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383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OUT-OF-TIME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23DFC-EB0B-49E9-9358-8E581220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00275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Mar–Jun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1A0787-9C10-4BD6-BA38-BB9EA33F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4,356 rows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30887-8018-4EE5-909E-EFB906F5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04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DECISION GATES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4EB2B-0847-4995-B221-AD400094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3429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18AACE-2F45-4271-AC81-EA4D9C6A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LEAKAGE 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AD019D-13C9-49D2-9F47-10BDB186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086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Lagged and rolling features use past-only values. Labels look forward 24 hours; split boundaries are chronological.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FF65E1-EE45-4279-A0DB-FDE0502B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33800"/>
            <a:ext cx="3429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4166D5-6010-44A5-9801-D57AD3C5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766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CALIBRATION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466483-41CD-4784-B77A-51D8B2D8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43375"/>
            <a:ext cx="3086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Sigmoid calibration is fitted on a dedicated window. OOT calibration is evaluated, never tuned.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73E7A5-3D75-4FBC-AB56-16D803F3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3429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CC9817-9873-48B5-AE8D-981CD9F6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766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THRESHOLD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F5B931-F574-4DC9-956F-3E0C678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43375"/>
            <a:ext cx="3086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selects 0.1478 under recall and review-capacity constraints. OOT stays untouched.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CECEEE-547B-4458-8547-9DD6F532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Champion: random forest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Challenger retained: logistic regression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Class imbalance measured against the positive-rate PR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CA0BFC-C7CE-45E0-A4AE-18219841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67C2BF-A47E-493A-9EF4-1003CCEF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2893696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7C4BF4-A147-4510-9807-40BCF713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119F1-01A1-46F9-A11B-5E420F03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CHAMPION / CHALLENGER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E4A47-EB2B-40D3-A1EA-5E41DBB5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Random forest wins narrowly; logistic regression remains the fallback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271CF-AB08-4C07-AE5A-CCC63B79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6FE21-8166-4D0A-80E6-FB130079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F4CE9-073B-4296-94B2-5AF3EE42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B5A75-5D7A-4867-95FC-4A40E4E1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09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4AC87-443C-42B1-BC78-5E4FB4EE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76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 PR-AUC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44C34-4411-4174-8F97-237B7E05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09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790B6-A7C4-471E-9CE5-76CC84A2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76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 ROC-AUC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7F28C-57E0-44CE-841B-B47AB78B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097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9B8D3-94E5-4BD8-BC38-CA724960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763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 Brier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7055E-8D8E-4BD7-AC9C-901D6408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09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5C340-030D-4BAC-96B4-B68DB787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763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Selection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434F6-BF76-4904-A762-4F098CD8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09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1A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71260-A5B3-40B5-97B7-BDBC3B0A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763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52FA5-BDD6-4826-ABEE-0A0B5C86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4971E-A14D-4BAF-AFF2-99840211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51B07-298E-462B-9F18-46525D2A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47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E7E92-2B45-4D86-B5E8-513C0253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145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0.3768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1D428-D11C-440E-A8B7-6FD9CD1A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47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6EE49-13FC-4B95-BB80-779C4A5D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145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0.7646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283AB-B7F7-4CDA-A75E-FDD83746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478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BF8E50-0765-4819-8B20-49186E79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14525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0.1099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D3556-20C9-496C-8D96-BA79255B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47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3BF52-3A2B-418F-B325-AAAE4D56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145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0.4057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1B2E5-EFF8-4E83-9038-9FB1C762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E7DA3-8167-4ADA-B0C4-9AB82DE3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145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CHAMPION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0E68B8-F00C-433B-9015-8C24C0F8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B79752-6B32-4DE3-BDB0-0BC38A22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18691F-4266-46A0-8E75-B718F541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0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CC2417-3DFB-44E2-8A66-C2541F91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6697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0.3771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C22192-E548-498E-9CAA-E967C3D2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3DDA5F-3C13-42B7-988B-B6E90CE1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6697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0.7622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EC1FA5-466B-4E78-B10C-9D51E3C8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84E9D5-B86A-4303-815F-0C74D593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66975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0.1108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C93E75-7D49-48BB-B732-F71C9C3A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9153A2-AE5B-48FE-92D1-69F204A2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669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0.4053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D349EA-ECF2-4190-85A7-D352EE89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00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89C76B-8A4C-445C-B65D-E6568AC8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669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CHALLENGER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0730E6-D104-498E-8775-75E6A204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OOT CHAMPION PERFORMANCE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13B124-9A5E-42BC-87D2-F50F3A7B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2590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291BC1-A40A-4497-8796-D7EF2992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44A669-4E68-4409-B0BD-E4728BFD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PR-AUC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669F69-FE46-4E04-A186-3E48C14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0.3887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FCC820-53F2-47D8-9509-8DCEA164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2.52× positive rate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2F8EDA-D8AD-40DC-A9BB-496CFE9B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48100"/>
            <a:ext cx="2590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110882-F198-434A-B38B-453E5286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481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F992A0-C67E-443F-A8DF-6C7C899F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F7D6EB-D5FA-4B95-BF7E-D662FAF2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100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0.7489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B93063-A29C-45D8-801C-1788EE1F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76775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rank discrimination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5EA0A9-755A-484F-81EF-F2786571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48100"/>
            <a:ext cx="2590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13B554-C2FE-4D3F-AC78-1B9FC43D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481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8C2188-1648-4F89-871B-77D72077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BRIER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D3A889-F669-47F8-8A1F-BED1C9D1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0.1137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6531EB-075D-4C64-9F6A-9E7AF307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76775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probability accuracy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B7D5A0-904B-41D9-B215-3F6F907F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2590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AEF154-6F63-455B-BFE1-2772E932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013E1F-5006-4056-AFFC-861C342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1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ECE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BE35DB-E8D0-476F-BB65-7D601840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100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0.0164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97E477-4EF9-4718-876A-29EC92FB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76775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10-bin calibration gap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62A44A-ED38-41D4-8FAF-F97E520B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54006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4DA73CF-D352-4319-AC96-384D7A6F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5057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VALIDATION THRESHOLD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83C4B9-AF95-4AC6-9AC5-2BC08C4F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5057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0.1478 • recall 75.78% • alert rate 39.51%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526241-89A8-40BE-947F-893172B9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353050"/>
            <a:ext cx="55530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FF0ED2-FA49-4DD1-9A1A-60210ECD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495925"/>
            <a:ext cx="5210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OOT REALITY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A94A8B-C06E-492D-B473-11A909DA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762625"/>
            <a:ext cx="521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precision 26.30% • recall 73.51% • alert rate 43.11%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DD776A-8242-41F0-9521-99AAD548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8C2AD81-B568-4D4C-A0FD-F4E21F3E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6444664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0C3D56-9322-4587-8A5B-F577E1B5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015BD-0F80-43AC-851C-99D7917B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CALIBRATION &amp; ALARM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E69A5-D001-4D98-9FD3-061370A9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5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Probability quality is acceptable; alert workload is the operational issue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A2E63-0ACE-4AFB-AEC4-E8F15977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9867E-EBC2-4BB2-B188-DA6981E6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5334000" cy="3838575"/>
          </a:xfrm>
          <a:prstGeom xmlns:a="http://schemas.openxmlformats.org/drawingml/2006/main" prst="roundRect">
            <a:avLst>
              <a:gd name="adj" fmla="val 29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8288d00e1470f"/>
          <a:stretch xmlns:a="http://schemas.openxmlformats.org/drawingml/2006/main"/>
        </p:blipFill>
        <p:spPr>
          <a:xfrm xmlns:a="http://schemas.openxmlformats.org/drawingml/2006/main">
            <a:off x="1102838" y="1419225"/>
            <a:ext cx="4042724" cy="3409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37B9A-2868-4295-ABF0-0CBBCD56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499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OOT Brier 0.1137 • ECE 0.0164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F8A6E-CBC4-4627-975F-C0B41F74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304925"/>
            <a:ext cx="5676900" cy="3838575"/>
          </a:xfrm>
          <a:prstGeom xmlns:a="http://schemas.openxmlformats.org/drawingml/2006/main" prst="roundRect">
            <a:avLst>
              <a:gd name="adj" fmla="val 29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4d9babcb74665"/>
          <a:stretch xmlns:a="http://schemas.openxmlformats.org/drawingml/2006/main"/>
        </p:blipFill>
        <p:spPr>
          <a:xfrm xmlns:a="http://schemas.openxmlformats.org/drawingml/2006/main">
            <a:off x="6754516" y="1419225"/>
            <a:ext cx="4207468" cy="3409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86CC9-B341-41A6-B4F6-E5203A34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TN 2300 • FP 1384 • FN 178 • TP 494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3CFC6-0DE1-44EB-8467-391DDC0E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25908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CF7BF-A8EE-469D-AF13-67D013C6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4997D-B391-4EFC-9DE1-4F515432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ALERTS / 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42149-C900-430A-A183-5D4BEFBB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15.65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B7D9E-4DCE-4575-BDCF-C2C260E5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91150"/>
            <a:ext cx="25908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AF42B-15BD-48CB-8020-474D7133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911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A2D59-5CA4-4AE2-B307-5154C94F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24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MEDIAN LEAD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925B8-1250-4295-ADC1-045B71EB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753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16 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423C5-3114-494C-AE67-DABE7972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91150"/>
            <a:ext cx="25908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CDCB1-87C9-4268-889D-6E04E017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911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4F263-944D-4A70-92D6-2259535D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147097-E82B-451F-81E2-19E062AB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753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26.30%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FC124A-3A05-4E40-880B-5C9FB4F0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391150"/>
            <a:ext cx="25908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CDC7DD-AD64-4487-A63B-BFAC5B49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3911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0AB6F7-CED7-4D9E-9FF8-6F6BE051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524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830DB-F893-4144-9CFF-F9F41542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753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73.51%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6ED6D3-C743-4A2C-9E10-2F88F7AD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D3CBA5-1A97-4305-A525-D22BFBC8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15893977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19F846-74B3-4F4B-9BE9-BE2C737F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5146B-079C-4510-806C-73FDBBA3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C8CE6-17EF-47A6-836D-126384D1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Global drivers become local maintenance reason codes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A4D2A-AF1D-4DD1-8C9A-28F10F6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143B4-6885-42DB-AAB4-709816A8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6667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f2479f61d4ac6"/>
          <a:stretch xmlns:a="http://schemas.openxmlformats.org/drawingml/2006/main"/>
        </p:blipFill>
        <p:spPr>
          <a:xfrm xmlns:a="http://schemas.openxmlformats.org/drawingml/2006/main">
            <a:off x="582216" y="1419225"/>
            <a:ext cx="641746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8CBBF-32BB-4FE0-9CD9-5894D3BD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33975"/>
            <a:ext cx="632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Mean absolute SHAP across 700 explained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3B7A6-A943-4536-BD7C-B6F6D6A4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04925"/>
            <a:ext cx="4267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8170A-5FF3-422D-9364-6317409B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47800"/>
            <a:ext cx="392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LOCAL 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D8E69-083E-4D36-9646-6502216E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0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63.62% • SH-MC-09-2025052508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5E880-9BD0-4589-A89F-C0AFB4FB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4267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C3C41-AB93-4AFF-9EDC-A9454C6A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955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A41D1-88DC-4725-86AF-449963CA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47925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TOOL_WEAR_ELEVATED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AD4F0-AE6B-4541-909D-63D16A15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47925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SHAP 0.077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9C145-3E6E-4588-9D24-3D2FFF1E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0375"/>
            <a:ext cx="4267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1C0A6-6648-4A86-853D-22464A05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337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9E6C0-43AA-43FD-9AF9-B8BB49EC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LOW_LUBRICATION_INDEX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00BEA-E00E-4EC9-8D39-19EDC4BA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8610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SHAP 0.062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2EEC2-6187-4EF8-9774-0A39E2D6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38550"/>
            <a:ext cx="4267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931E1-AC53-4957-9697-57512540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71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73628-8117-4BCA-8F47-8443E472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24275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SUSTAINED_VIBRATION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427189-F211-4D57-A9F8-DC5051D6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24275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SHAP 0.055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DA1FF5-E06F-4A49-B409-0A1EA809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76725"/>
            <a:ext cx="4267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090039-DF05-4332-9091-AED20E8E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100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BF6FA-4999-425E-A5D1-55940888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MAINTENANCE_INTERVAL_EXCEEDED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5A451-795A-4BA3-BAA1-21033364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62450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SHAP 0.053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FA43DC-3954-4898-90BF-96FF5E84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23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0F6664-3CCE-435B-B9B3-79B90C7F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SCOPE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84BE9F-70BA-4C7D-9BAC-8672048B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SHAP explains the fitted base estimator. The sigmoid calibration layer changes probabilities and is outside attribution.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528407-1CFD-4DB3-B368-34E1030C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A15E8E-8DF1-460C-B508-FF65B79B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1806666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68719-0971-43DE-AE41-DD92BB1B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F2981-F267-4044-B76E-AFC3FB7A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MAINTENANCE DECISION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6C518-B803-47C9-864F-26BB4B0D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Risk is prioritized only when economics and criticality agree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3D381-719D-46E3-BA0E-ECB29720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E03F3-D647-4A34-B43B-F5C70CAC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7239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3367641df46de"/>
          <a:stretch xmlns:a="http://schemas.openxmlformats.org/drawingml/2006/main"/>
        </p:blipFill>
        <p:spPr>
          <a:xfrm xmlns:a="http://schemas.openxmlformats.org/drawingml/2006/main">
            <a:off x="953259" y="1419225"/>
            <a:ext cx="6246882" cy="3571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093F6-6232-4304-8C98-6FDCAEDA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38725"/>
            <a:ext cx="689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Expected net benefit = avoided synthetic loss − maintenance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EFC28-8F14-470B-B9D1-BEB42A05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04925"/>
            <a:ext cx="36957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8AD4D-320D-430F-A960-56565B21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4780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POLICY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1713D-FBF6-457F-97C2-77EE5122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335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Calibrated probability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× asset criticality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× estimated failure cost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− maintenance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B64ED-9C54-46FE-83AA-2C0EBDA6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1752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6E7D1-EDA5-4F6C-AF64-8C221F1C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334E8-31B4-4953-83A6-5C601DDF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337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070C7-B915-477A-95BC-465F36AE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6232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B5943-3D63-493E-B745-32EE3D1B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1447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planner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FBE9C-15FB-48BD-86F2-BC9683A0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1752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A7DA1-6D54-495A-B5CA-DAF71FE0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F89DA-076B-4EC5-83A0-A500DAF2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337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3621D-AC80-48B2-9809-055EE99A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6232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E46E9-6207-4691-9421-0526B11E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90950"/>
            <a:ext cx="1447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no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F4AA2-0B37-4018-86EC-DA9B4E90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36957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0D844-EBD6-4993-87F4-D71E591B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481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HUMAN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8717E-3024-439D-88F0-31E0DF43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2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 recommendation requires maintenance-planner approval and current safety context.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261ADC-D65E-481F-911D-0A5CDDCF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11239500" cy="752475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753E0A-54AB-42E9-A6BA-04D2E7E8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C45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C453"/>
                </a:solidFill>
                <a:latin typeface="Aptos"/>
                <a:ea typeface="Aptos"/>
                <a:cs typeface="Aptos"/>
              </a:rPr>
              <a:t>EXPLICIT EXCLUSION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93D3F-F3FE-4E44-9404-CDFCD5CF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10896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CMMS, PLC or SCADA write path; the API cannot stop equipment, create work orders or approve maintenance.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B8B7AA-5868-4288-B8E4-E0920C71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269AE9-0448-431B-A02E-7AC5445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7432732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09C75-C4CF-4584-844C-5F53DD89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BBEB7-E4DD-4162-B5E5-38D0490F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DELIVERY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A974C-303B-4A84-9E55-EA651C6A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The same governed record serves API, BI, reporting and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B8E49-B161-4759-B6BD-5436BA07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F64F3-D657-471F-A205-1D1F18DF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323975"/>
            <a:ext cx="3486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1336C-0CA1-4D0F-93DE-B967C40F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668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GOVERNED ANALYTICAL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A0011-BB3F-4941-A4A7-4066C8E2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33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PostgreSQL views + versioned artifacts + model bundle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6F5B5-85FB-4F23-AB8F-DAC22FFC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479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0EB1B-C013-4A1B-BC33-A09A00A0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05100"/>
            <a:ext cx="23241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851BE-A8B3-4286-9CCF-02F97CF7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DBD4B-C12B-4CB7-8854-4AB5CFAF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recommendation endpoint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87DAE-8365-4D3E-B905-17A9B1B2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E2FD3-BF27-4443-91A7-29A11087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05100"/>
            <a:ext cx="23241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97003-F073-4FE7-9D3B-F6F81B3D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47975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PBIP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FF0EF-D2E6-4D64-955A-C31C4421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1467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semantic starter + DAX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D4B17-DB19-4C03-8838-99C0AB2B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22FF0-9D88-42D5-B880-87899EF0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23241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2DBE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92A8F-5306-499C-9834-C7DB1197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47975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BE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BE8C"/>
                </a:solidFill>
                <a:latin typeface="Aptos"/>
                <a:ea typeface="Aptos"/>
                <a:cs typeface="Aptos"/>
              </a:rPr>
              <a:t>EXCEL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28135-605E-4F62-AD40-F31BE662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1467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formula decision workbook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2C2A2-E277-44A5-B4BC-B1241711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479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55E64-2D61-42F9-B5EB-3C0F085F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05100"/>
            <a:ext cx="23241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1D6F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5C631-D1E0-4BF1-8AFA-BD29419A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47975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6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6F8A"/>
                </a:solidFill>
                <a:latin typeface="Aptos"/>
                <a:ea typeface="Aptos"/>
                <a:cs typeface="Aptos"/>
              </a:rPr>
              <a:t>PDF / PPT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BC71B-09E1-4EA2-92F0-5ADAE00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1467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 + executive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A943D-6F2B-4945-8B8B-4983682D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OPERABILITY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1A8726-5930-447D-A84C-832B33D7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D2E8D0-BA95-48EE-BF95-613FAD09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482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8273E-4B23-4A34-9BDE-FCA833F1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62550"/>
            <a:ext cx="224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local integrated stack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BCF64D-023B-4A42-BCA1-18EDC44C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6725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A14B2E-2791-4AA1-A419-8412F5C6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482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Kubernetes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4AF485-5EFC-473D-94F9-7946F4BB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62550"/>
            <a:ext cx="224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non-root API + HPA/PDB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67AA4B-68D7-4BE6-983F-2237FA1A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6725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8E8D83-17B6-451F-BEAE-ED9E66AA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8482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Prometheus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D09714-94A0-4B43-A276-4787DF1C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162550"/>
            <a:ext cx="224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service/model metrics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7B8B13-42A3-4091-AF78-1B8733DC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E6AA7-ADD0-4CBA-A9C1-06B3B351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8482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Grafana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EE5641-2F39-47D9-9811-C4762381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162550"/>
            <a:ext cx="224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provisioned dashboard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2F7619-578B-4DD7-AD5E-8AF29625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00700"/>
            <a:ext cx="1120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CC8A88-BC60-4E4E-AFAE-24ABFC8B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SECURITY CONTROLS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0F9361-5CB9-4FF3-A269-74EB69A2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0275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 • CodeQL • pip-audit • Trivy • Dependabot • CODEOWNERS • documented branch protection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9F2FB1-934E-4FF4-A45B-48A963F6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722CB0-59A9-4E45-855F-5D69A873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10696368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D05EB9-9910-41EA-B170-C2E5272E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1BF6D-E33F-48E6-BFE1-13D3BB78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6A7EB-1D78-413A-95AE-25150967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Data quality passes; temporal drift is intentionally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E7A52-476A-44D0-A2B9-FDB098B6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46145-3482-44E3-AF31-FBCF1FD9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6858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56be4e75a4866"/>
          <a:stretch xmlns:a="http://schemas.openxmlformats.org/drawingml/2006/main"/>
        </p:blipFill>
        <p:spPr>
          <a:xfrm xmlns:a="http://schemas.openxmlformats.org/drawingml/2006/main">
            <a:off x="681469" y="1419225"/>
            <a:ext cx="64094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60F82-68F7-46AA-860A-ADA27367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33975"/>
            <a:ext cx="651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OOT versus model-fit reference distribution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84577-9443-4CBA-947A-D04C0947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04925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7C809-8ED2-420C-8589-DA025F21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0492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A310D-9D2A-4B94-85C7-391D59DD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382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DATA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C1BCC-ACAD-4186-BAD1-78E9A7C9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5/5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3B3F2-6E25-4029-8F1F-8F3DB7F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16478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pipeline 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C1D6A-CB4F-43AE-88CD-8EF0FFEA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304925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DE2EC-0D0D-42C2-9DA9-6B831539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30492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017CF-EDC3-4096-B72F-8683B93F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4382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ACTION PSI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D6FB0-0673-4FA8-85BE-7356EEEB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666875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ED8A3-DB9E-4D93-9D9A-797F97F9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095500"/>
            <a:ext cx="16478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review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0BBDB-0E0E-4B67-AB93-D9144C14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4076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469F3-4D30-4DCA-B464-F40844C4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8AF7B-0293-48D6-A012-33465C88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OOT ALERT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3508E-9FE9-4F2F-A132-C613F249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43.11%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5294B-C042-4AEC-8DD7-FF1344A0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0425"/>
            <a:ext cx="3771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above 40% validation capacity 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3FE7D-A2CD-4092-9517-15974937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43350"/>
            <a:ext cx="4076700" cy="145732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0461B-A54D-4478-9B0A-C49C9696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8622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OPERATIONAL WATCH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6D232C-23AE-4251-A6F1-A1AD7111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52925"/>
            <a:ext cx="3733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Large PSI values are expected from cumulative/time features across a later time window. Review meaning and redesign before promotion; do not silence the alert.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D4C400-10EE-4607-9015-9E21F8A8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1239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24541-A03B-4D13-A52E-52BDC919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MONITORING CONTRACT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1C6A4-F0FA-4261-B00A-96BB6933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89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 quality, feature drift, data quality and alert burden have separate thresholds and owners.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795EFC-CB77-4984-BE36-320D8814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E1C6E4-9735-4497-A072-D3134AD1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5253534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0C5FCF-6571-408A-B525-7B3F032F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70F0E-7E5A-4883-A492-C1E1FEA4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GOVERNED ADOPTION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BB293-F88E-4A11-A10F-E8A4B474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A proposed 90-day pilot keeps humans in the decision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D02C0-ADB0-4E7A-B184-9634CB36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3A1DA-FC29-4A59-B625-55492256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34290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F8736-A164-4AAC-88C9-991382AC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90700"/>
            <a:ext cx="1085850" cy="108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99095-9547-4D78-ADD6-B9A05807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145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280F8-DA4F-4279-9B13-BB5ECC4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SHADOW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B9860-E479-4019-91BD-41EA51D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Score silently; validate data freshness, SPC false signals and planner interpretability.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36425-B8F9-4177-A317-75081C62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71625"/>
            <a:ext cx="34290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FFF48-82A3-4137-8065-60C28CF7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90700"/>
            <a:ext cx="1085850" cy="108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B7715-839D-4989-87C5-4139F37F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145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31–60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8A744-51D3-4434-B62A-5CE98B16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051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ASSISTED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695EA-9459-4183-9943-87623EF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5757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Expose ranked recommendations; record accept/reject decisions and reason codes.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04347-64D7-468A-ABE0-5D5D054D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71625"/>
            <a:ext cx="34290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DD35B-559F-4CB4-A15A-41A5DC19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90700"/>
            <a:ext cx="1085850" cy="108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B11DC-9845-48EB-A6E2-A4828C47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145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61–90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D2B1F-7804-40CC-8C23-8D664484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CONTROL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58AD2-6D9B-4B0A-AE6C-1E5137C4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5757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Reassess threshold, workload, drift and synthetic economics before any promotion.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CCF61-2642-4767-9313-95DBA3C2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GO / NO-GO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E6F79-2F1F-4C91-AB00-1B4BBEED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67275"/>
            <a:ext cx="20288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7A000A-20EE-488B-A69E-2B7523AE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Data-quality gates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F33D3-A668-4E0F-938C-F44E89AC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867275"/>
            <a:ext cx="20288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0DEE05-BC36-4ECD-97EC-8734268C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48250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Alert workload fits planner capacity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3C934-8E86-47E3-812D-2810B0D3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67275"/>
            <a:ext cx="20288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2B540-AC17-4DC3-9F47-4CC274C8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48250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Failure capture and calibration remain acceptable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0693FA-758D-4918-8869-F3E29044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67275"/>
            <a:ext cx="20288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FE1A72-64AE-403D-B7AB-F60B09B5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048250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131A"/>
                </a:solidFill>
                <a:latin typeface="Aptos"/>
                <a:ea typeface="Aptos"/>
                <a:cs typeface="Aptos"/>
              </a:rPr>
              <a:t>Drift reviewed with documented disposition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5C4AD6-1151-4B97-9A65-ED6C0DF7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67275"/>
            <a:ext cx="20288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CA6801-8AD2-449D-9670-A6A18430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48250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Safety and maintenance owners approve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115121-ECA1-4569-A1E7-C2D6BA1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11201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7AC4E5-3E69-41D7-890A-6A6F7509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E89F95-7B48-4C84-997C-AD1CBF8C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95975"/>
            <a:ext cx="956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This is a proposed pilot cadence, not evidence of real deployment or standard compliance.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5973BC-8284-472C-A24F-FCE8E18B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E9A86D-6679-4F5C-9043-C9A0822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Deterministic synthetic data • Recommendation only</a:t>
            </a:r>
          </a:p>
        </p:txBody>
      </p:sp>
    </p:spTree>
    <p:extLst>
      <p:ext uri="{BB962C8B-B14F-4D97-AF65-F5344CB8AC3E}">
        <p14:creationId xmlns:p14="http://schemas.microsoft.com/office/powerpoint/2010/main" val="21465054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C5605D-3E05-4C52-9C87-8B41DA40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A1CDD-CE0F-4B9E-B010-1EB3D6B5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PORTFOLIO DELIVERY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F92FE-5D2E-40BF-95DE-967367F6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31A"/>
                </a:solidFill>
                <a:latin typeface="Aptos Display"/>
                <a:ea typeface="Aptos Display"/>
                <a:cs typeface="Aptos Display"/>
              </a:rPr>
              <a:t>Every reviewer can inspect outcomes and the evidence underneath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B302F-E3B7-46E3-B5D5-6656603E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71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C72BD-C3D1-43B6-A5C8-C7A23B27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3429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6F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FB74E-BB99-4195-8FFD-CCC37DE3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19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6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F8A"/>
                </a:solidFill>
                <a:latin typeface="Aptos"/>
                <a:ea typeface="Aptos"/>
                <a:cs typeface="Aptos"/>
              </a:rPr>
              <a:t>REPRODUCE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DECC2-AA6F-448D-9BF9-DDAF3D4E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526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PYTHON + 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3A14C-1AE4-46C2-8223-2F8572C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765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Pipeline, tests, API, schema and analytical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54DE9-603C-49C1-A20D-F0C49CCA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409700"/>
            <a:ext cx="3429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6BFED-8478-4410-9282-8B26C073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01A3E-AC4A-4689-B323-81AA77AD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POWER BI PBIP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4BB15-1115-4D41-BE24-0D82402D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Starter semantic model, DAX measures and report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AB8BE-4856-4F36-9E64-0A5D2D51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3429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BE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53B7A-4766-42CA-B890-271E2A00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19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BE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BE8C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36317-0DA1-465C-9926-671B3CD0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526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EXCEL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752B2-04EA-42A0-9723-965BFD96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765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Formula-based dashboard, model controls and planner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F2CBD-8753-467A-96B7-1677C12B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48075"/>
            <a:ext cx="3429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2EE35-6215-46E7-941D-F750C203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576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COMMUNICATE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0DA8B-E5AA-487F-8FEE-A0BF6A02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91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PPT + PDF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55301-D102-47DC-8A8F-C51FBA9B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Executive narrative and detailed governance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2CB0B-D821-4269-A73E-6B87B1CC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48075"/>
            <a:ext cx="3429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7116F-B910-42FA-A17A-6B51B56A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576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6394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63946"/>
                </a:solidFill>
                <a:latin typeface="Aptos"/>
                <a:ea typeface="Aptos"/>
                <a:cs typeface="Aptos"/>
              </a:rPr>
              <a:t>ASSURE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6AADC-33A2-4BD5-AA22-C3F483C4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F399D-8A85-434A-B560-A01067A5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148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CI, security scans, ownership and branch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33008F-C73C-48B2-B86C-55C96FC7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48075"/>
            <a:ext cx="3429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BB882-7D9F-4EC0-A485-E3254575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8576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C45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C453"/>
                </a:solidFill>
                <a:latin typeface="Aptos"/>
                <a:ea typeface="Aptos"/>
                <a:cs typeface="Aptos"/>
              </a:rPr>
              <a:t>GOVERN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0B0A75-3ECF-4134-8C08-A70D952E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191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1A"/>
                </a:solidFill>
                <a:latin typeface="Aptos"/>
                <a:ea typeface="Aptos"/>
                <a:cs typeface="Aptos"/>
              </a:rPr>
              <a:t>DOCUMENTATION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FE8D6-3FF1-409E-823D-ABCBBEDC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7148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Data contract, ADRs, model card and runbooks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CFC23A-D580-48FB-9287-C65840CE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C86B20-B8E8-439C-8E03-C0F8BF22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817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One deterministic evidence chain across code, analytics and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6281838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B47011-6F06-49B8-B61C-D5806D1F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C1E27-627D-4B95-895E-E37C0322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MANUFACTURING DECISION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F1A88-D966-4942-A386-60AC9960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809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Measure the factory.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Explain the risk.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Keep the human accountable.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88254-BA90-43C3-A1B9-C9AB1706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DF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DF2"/>
                </a:solidFill>
                <a:latin typeface="Aptos"/>
                <a:ea typeface="Aptos"/>
                <a:cs typeface="Aptos"/>
              </a:rPr>
              <a:t>85.27% OEE  •  95.27% FPY  •  0.389 OOT PR-AUC  •  73.51% recall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8F66C-C539-4BEC-AB65-09D5AFFE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047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212B"/>
          </a:solidFill>
          <a:ln xmlns:a="http://schemas.openxmlformats.org/drawingml/2006/main" w="9525">
            <a:solidFill>
              <a:srgbClr val="FF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6430A-1E82-4A70-BA4D-BAB4F90F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14925"/>
            <a:ext cx="1013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00"/>
                </a:solidFill>
                <a:latin typeface="Aptos"/>
                <a:ea typeface="Aptos"/>
                <a:cs typeface="Aptos"/>
              </a:rPr>
              <a:t>DECISION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546F9-8444-4C70-9FAC-9D411100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1013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Recommendation only • synthetic economics • human approval required • no autonomous maintenance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47F49-E4D6-4686-AEBA-B3FEDB46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Repository: github.com/muratmiracg-dev/Manufacturing-Quality-OEE-Predictive-Maintenance-Control-Tower</a:t>
            </a:r>
          </a:p>
        </p:txBody>
      </p:sp>
    </p:spTree>
    <p:extLst>
      <p:ext uri="{BB962C8B-B14F-4D97-AF65-F5344CB8AC3E}">
        <p14:creationId xmlns:p14="http://schemas.microsoft.com/office/powerpoint/2010/main" val="1819792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2026-07-29T12:27:10.8510000Z</dcterms:created>
  <dcterms:modified xsi:type="dcterms:W3CDTF">2026-07-29T12:27:10.8510000Z</dcterms:modified>
</coreProperties>
</file>